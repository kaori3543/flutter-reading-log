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Lora" pitchFamily="2" charset="0"/>
      <p:regular r:id="rId11"/>
      <p:bold r:id="rId12"/>
      <p:italic r:id="rId13"/>
      <p:boldItalic r:id="rId14"/>
    </p:embeddedFont>
    <p:embeddedFont>
      <p:font typeface="Source Sans 3" panose="020B0600070205080204" charset="0"/>
      <p:regular r:id="rId15"/>
    </p:embeddedFont>
  </p:embeddedFont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59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13054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読書記録アプリ</a:t>
            </a:r>
            <a:endParaRPr lang="en-US" sz="27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78613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746558"/>
                </a:solidFill>
                <a:ea typeface="+mj-ea"/>
                <a:cs typeface="Source Sans 3" pitchFamily="34" charset="-120"/>
              </a:rPr>
              <a:t>Reading Log</a:t>
            </a:r>
            <a:r>
              <a:rPr lang="en-US" sz="1100" dirty="0">
                <a:solidFill>
                  <a:srgbClr val="746558"/>
                </a:solidFill>
                <a:ea typeface="+mj-ea"/>
                <a:cs typeface="Source Sans 3" pitchFamily="34" charset="-120"/>
              </a:rPr>
              <a:t> — あなたの読書体験を、もっと豊かに</a:t>
            </a: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185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コンセプト</a:t>
            </a:r>
            <a:endParaRPr lang="en-US" sz="11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80430"/>
            <a:ext cx="4890939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読書を続けたくなる、</a:t>
            </a:r>
            <a:endParaRPr lang="en-US" sz="3850" dirty="0">
              <a:latin typeface="+mj-lt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シンプルな記録アプリ</a:t>
            </a:r>
            <a:endParaRPr lang="en-US" sz="385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615803"/>
            <a:ext cx="4004965" cy="850776"/>
          </a:xfrm>
          <a:prstGeom prst="roundRect">
            <a:avLst>
              <a:gd name="adj" fmla="val 672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52165" y="2771849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１.　簡単登録</a:t>
            </a:r>
            <a:endParaRPr lang="en-US" sz="11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2165" y="3083719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楽天 Books API でタイトル・著者から検索して本棚に追加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615803"/>
            <a:ext cx="4005039" cy="850776"/>
          </a:xfrm>
          <a:prstGeom prst="roundRect">
            <a:avLst>
              <a:gd name="adj" fmla="val 672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8" name="Text 6"/>
          <p:cNvSpPr/>
          <p:nvPr/>
        </p:nvSpPr>
        <p:spPr>
          <a:xfrm>
            <a:off x="4798888" y="2771849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2. 　3ステータス管理</a:t>
            </a:r>
            <a:endParaRPr lang="en-US" sz="11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98888" y="3083719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「読みたい / 読書中 / 読了」で本の状態をシンプルに整理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608338"/>
            <a:ext cx="4004965" cy="850776"/>
          </a:xfrm>
          <a:prstGeom prst="roundRect">
            <a:avLst>
              <a:gd name="adj" fmla="val 672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52165" y="3764384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3.　記録・レビュー</a:t>
            </a:r>
            <a:endParaRPr lang="en-US" sz="11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2165" y="4076254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読書進捗・評価・感想メモをいつでも振り返れる形で保存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1" y="3608338"/>
            <a:ext cx="4005039" cy="850776"/>
          </a:xfrm>
          <a:prstGeom prst="roundRect">
            <a:avLst>
              <a:gd name="adj" fmla="val 672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798888" y="3764384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4. 　</a:t>
            </a:r>
            <a:r>
              <a:rPr lang="ja-JP" altLang="en-US" sz="1100" b="1" dirty="0">
                <a:solidFill>
                  <a:srgbClr val="746558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統計分析</a:t>
            </a:r>
            <a:endParaRPr lang="en-US" sz="11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98888" y="4076254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月別の読書ペースを可視化して、習慣化をサポート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60846"/>
            <a:ext cx="3139901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背景・課題</a:t>
            </a:r>
            <a:endParaRPr lang="en-US" sz="24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8379" y="1020217"/>
            <a:ext cx="473824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読書管理にまつわる </a:t>
            </a:r>
            <a:r>
              <a:rPr lang="en-US" sz="950" b="1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4つの困りごと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88379" y="1334839"/>
            <a:ext cx="4738241" cy="753517"/>
          </a:xfrm>
          <a:prstGeom prst="roundRect">
            <a:avLst>
              <a:gd name="adj" fmla="val 758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502667" y="1349127"/>
            <a:ext cx="502369" cy="7249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52537" y="1593875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16285" y="147466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「あれ、何だっけ」</a:t>
            </a:r>
            <a:endParaRPr lang="en-US" sz="1200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16285" y="1737643"/>
            <a:ext cx="397051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読みたい本のリストが頭の中だけ。書店に行くと思い出せない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8379" y="2199605"/>
            <a:ext cx="4738241" cy="753517"/>
          </a:xfrm>
          <a:prstGeom prst="roundRect">
            <a:avLst>
              <a:gd name="adj" fmla="val 758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502667" y="2213893"/>
            <a:ext cx="502369" cy="7249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652537" y="2458641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6285" y="2339429"/>
            <a:ext cx="1726332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積読の全体像が見えない</a:t>
            </a:r>
            <a:endParaRPr lang="en-US" sz="120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16285" y="2602409"/>
            <a:ext cx="397051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「積読」は増えていく一方で、今何冊あるのかすら把握できていない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8379" y="3064371"/>
            <a:ext cx="4738241" cy="753517"/>
          </a:xfrm>
          <a:prstGeom prst="roundRect">
            <a:avLst>
              <a:gd name="adj" fmla="val 758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502667" y="3078659"/>
            <a:ext cx="502369" cy="7249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652537" y="3323406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16285" y="3204195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感想が残せない</a:t>
            </a:r>
            <a:endParaRPr lang="en-US" sz="1200" dirty="0">
              <a:latin typeface="+mj-lt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16285" y="3467174"/>
            <a:ext cx="397051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読んだ直後の気づきや感動が記録されず、振り返ることができない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88379" y="3929137"/>
            <a:ext cx="4738241" cy="753517"/>
          </a:xfrm>
          <a:prstGeom prst="roundRect">
            <a:avLst>
              <a:gd name="adj" fmla="val 758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502667" y="3943424"/>
            <a:ext cx="502369" cy="7249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52537" y="4188172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116285" y="4068961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読書ペースが不明</a:t>
            </a:r>
            <a:endParaRPr lang="en-US" sz="1200" dirty="0">
              <a:latin typeface="+mj-lt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16285" y="4331940"/>
            <a:ext cx="397051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月に何冊読んでいるか分からず、現実的な目標を立てるのが難しい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9401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解決策</a:t>
            </a:r>
            <a:endParaRPr lang="en-US" sz="27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393701"/>
            <a:ext cx="34575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highlight>
                  <a:srgbClr val="ECE9E3"/>
                </a:highlight>
                <a:latin typeface="+mj-lt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つのアプリで、本との付き合いを一元管理</a:t>
            </a:r>
            <a:endParaRPr lang="en-US" sz="135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183252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検索 → 登録 → 整理 → 振り返りを、すべて1アプリで完結。　　　　　　　データは蓄積されるほど価値を増す設計。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44561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382" y="2831902"/>
            <a:ext cx="19050" cy="1417588"/>
          </a:xfrm>
          <a:prstGeom prst="roundRect">
            <a:avLst>
              <a:gd name="adj" fmla="val 3000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583332" y="2981846"/>
            <a:ext cx="283518" cy="19050"/>
          </a:xfrm>
          <a:prstGeom prst="roundRect">
            <a:avLst>
              <a:gd name="adj" fmla="val 3000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549250" y="2938239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169491" y="2877964"/>
            <a:ext cx="40493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楽天 API で即座に書籍を検索・登録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3332" y="3548881"/>
            <a:ext cx="283518" cy="19050"/>
          </a:xfrm>
          <a:prstGeom prst="roundRect">
            <a:avLst>
              <a:gd name="adj" fmla="val 3000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49250" y="3505274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169491" y="3444999"/>
            <a:ext cx="40493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ステータスと統計で読書習慣を見える化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3332" y="4115916"/>
            <a:ext cx="283518" cy="19050"/>
          </a:xfrm>
          <a:prstGeom prst="roundRect">
            <a:avLst>
              <a:gd name="adj" fmla="val 3000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549250" y="4072310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1169491" y="4012034"/>
            <a:ext cx="40493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続けるほど楽しくなる体験設計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950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ターゲットユーザー</a:t>
            </a:r>
            <a:endParaRPr lang="en-US" sz="275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6013"/>
            <a:ext cx="877193" cy="877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0491" y="19160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ライトな読書家</a:t>
            </a:r>
            <a:endParaRPr lang="en-US" sz="135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50491" y="2222525"/>
            <a:ext cx="29328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読書を続けたいけれど、専用ノートを開く　ほどではない。手軽に記録したい人。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916013"/>
            <a:ext cx="877193" cy="8771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4926" y="19160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積読整理したい人</a:t>
            </a:r>
            <a:endParaRPr lang="en-US" sz="135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5714926" y="2222525"/>
            <a:ext cx="2932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積読本を一覧で把握し、計画的に読み進め　たい人。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76724"/>
            <a:ext cx="877193" cy="8771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0491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振り返りたい人</a:t>
            </a:r>
            <a:endParaRPr lang="en-US" sz="135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50491" y="3383235"/>
            <a:ext cx="29328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読んだ本の感想をコンパクトに自分用に　　残し、いつでも振り返りたい人。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553" y="3076724"/>
            <a:ext cx="877193" cy="8771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4926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データで把握したい人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714926" y="3383235"/>
            <a:ext cx="2932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月にどれくらい読んでいるか、数字と　　　グラフで確認したい人。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723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主要機能（MVP）</a:t>
            </a:r>
            <a:endParaRPr lang="en-US" sz="27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9373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8002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77069" y="2080022"/>
            <a:ext cx="76200" cy="1081757"/>
          </a:xfrm>
          <a:prstGeom prst="roundRect">
            <a:avLst>
              <a:gd name="adj" fmla="val 75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50044" y="2240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本の検索</a:t>
            </a:r>
            <a:endParaRPr lang="en-US" sz="135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4077" y="25473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楽天 Books API でタイトル・著者　から瞬時に検索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8002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41551" y="2080022"/>
            <a:ext cx="76200" cy="1081757"/>
          </a:xfrm>
          <a:prstGeom prst="roundRect">
            <a:avLst>
              <a:gd name="adj" fmla="val 75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714527" y="2240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本の登録</a:t>
            </a:r>
            <a:endParaRPr lang="en-US" sz="135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8560" y="25473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「読みたい / 読書中 / 読了」の　　3ステータスで本棚に追加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8002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006033" y="2080022"/>
            <a:ext cx="76200" cy="1081757"/>
          </a:xfrm>
          <a:prstGeom prst="roundRect">
            <a:avLst>
              <a:gd name="adj" fmla="val 75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79009" y="2240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本棚一覧</a:t>
            </a:r>
            <a:endParaRPr lang="en-US" sz="135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43042" y="25473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GridView で表紙をビジュアルに　　一覧表示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21248"/>
            <a:ext cx="4004965" cy="854943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77069" y="3321248"/>
            <a:ext cx="76200" cy="854943"/>
          </a:xfrm>
          <a:prstGeom prst="roundRect">
            <a:avLst>
              <a:gd name="adj" fmla="val 75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641128" y="34820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詳細表示</a:t>
            </a:r>
            <a:endParaRPr lang="en-US" sz="135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4077" y="3788569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Hero アニメーションで滑らかに詳細画面へ遷移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21248"/>
            <a:ext cx="4005039" cy="854943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623792" y="3321248"/>
            <a:ext cx="76200" cy="854943"/>
          </a:xfrm>
          <a:prstGeom prst="roundRect">
            <a:avLst>
              <a:gd name="adj" fmla="val 75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787926" y="34820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ローカル保存</a:t>
            </a:r>
            <a:endParaRPr lang="en-US" sz="135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60801" y="3788569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端末内にデータを永続化。オフラインでも使える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1407"/>
            <a:ext cx="3139901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画面構成</a:t>
            </a:r>
            <a:endParaRPr lang="en-US" sz="24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8379" y="1036439"/>
            <a:ext cx="8167241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5画面</a:t>
            </a: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で構成されるシンプルかつ完結した UI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1" y="2190601"/>
            <a:ext cx="3232249" cy="12128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8304" y="2499542"/>
            <a:ext cx="166957" cy="1669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79556" y="3109039"/>
            <a:ext cx="487514" cy="9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746558"/>
                </a:solidFill>
                <a:ea typeface="Lora" pitchFamily="34" charset="-122"/>
                <a:cs typeface="Lora" pitchFamily="34" charset="-120"/>
              </a:rPr>
              <a:t>統計</a:t>
            </a:r>
            <a:endParaRPr lang="en-US" sz="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7085" y="2499855"/>
            <a:ext cx="166957" cy="1669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65154" y="3109039"/>
            <a:ext cx="487514" cy="9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746558"/>
                </a:solidFill>
                <a:ea typeface="Lora" pitchFamily="34" charset="-122"/>
                <a:cs typeface="Lora" pitchFamily="34" charset="-120"/>
              </a:rPr>
              <a:t>レビュー</a:t>
            </a:r>
            <a:endParaRPr lang="en-US" sz="5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6023" y="2499855"/>
            <a:ext cx="166957" cy="16695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54092" y="3109039"/>
            <a:ext cx="487514" cy="9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746558"/>
                </a:solidFill>
                <a:ea typeface="Lora" pitchFamily="34" charset="-122"/>
                <a:cs typeface="Lora" pitchFamily="34" charset="-120"/>
              </a:rPr>
              <a:t>詳細</a:t>
            </a:r>
            <a:endParaRPr lang="en-US" sz="5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4960" y="2499855"/>
            <a:ext cx="166957" cy="16695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43030" y="3109039"/>
            <a:ext cx="487514" cy="9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746558"/>
                </a:solidFill>
                <a:ea typeface="Lora" pitchFamily="34" charset="-122"/>
                <a:cs typeface="Lora" pitchFamily="34" charset="-120"/>
              </a:rPr>
              <a:t>検索</a:t>
            </a:r>
            <a:endParaRPr lang="en-US" sz="5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559" y="2499855"/>
            <a:ext cx="166957" cy="16695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8610" y="3109039"/>
            <a:ext cx="487514" cy="9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746558"/>
                </a:solidFill>
                <a:ea typeface="Lora" pitchFamily="34" charset="-122"/>
                <a:cs typeface="Lora" pitchFamily="34" charset="-120"/>
              </a:rPr>
              <a:t>本棚</a:t>
            </a:r>
            <a:endParaRPr lang="en-US" sz="550" dirty="0"/>
          </a:p>
        </p:txBody>
      </p:sp>
      <p:sp>
        <p:nvSpPr>
          <p:cNvPr id="15" name="Text 7"/>
          <p:cNvSpPr/>
          <p:nvPr/>
        </p:nvSpPr>
        <p:spPr>
          <a:xfrm>
            <a:off x="488379" y="3528640"/>
            <a:ext cx="3591446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本棚から詳細への </a:t>
            </a:r>
            <a:r>
              <a:rPr lang="en-US" sz="950" b="1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Hero アニメーション</a:t>
            </a: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が看板機能。表紙をタップした瞬間、画面が滑らかに拡大遷移します。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391025" y="1476226"/>
            <a:ext cx="2078980" cy="966043"/>
          </a:xfrm>
          <a:prstGeom prst="roundRect">
            <a:avLst>
              <a:gd name="adj" fmla="val 709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7" name="Shape 9"/>
          <p:cNvSpPr/>
          <p:nvPr/>
        </p:nvSpPr>
        <p:spPr>
          <a:xfrm>
            <a:off x="4376738" y="1476226"/>
            <a:ext cx="57150" cy="966043"/>
          </a:xfrm>
          <a:prstGeom prst="roundRect">
            <a:avLst>
              <a:gd name="adj" fmla="val 100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0"/>
          <p:cNvSpPr/>
          <p:nvPr/>
        </p:nvSpPr>
        <p:spPr>
          <a:xfrm>
            <a:off x="4573712" y="1616050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BookshelfPage</a:t>
            </a:r>
            <a:endParaRPr lang="en-US" sz="1200" dirty="0">
              <a:latin typeface="+mj-lt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3712" y="1923529"/>
            <a:ext cx="1756470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GridView で表紙一覧 + ステータスタブで絞り込み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6581254" y="1476226"/>
            <a:ext cx="2079054" cy="966043"/>
          </a:xfrm>
          <a:prstGeom prst="roundRect">
            <a:avLst>
              <a:gd name="adj" fmla="val 709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3"/>
          <p:cNvSpPr/>
          <p:nvPr/>
        </p:nvSpPr>
        <p:spPr>
          <a:xfrm>
            <a:off x="6566967" y="1476226"/>
            <a:ext cx="57150" cy="966043"/>
          </a:xfrm>
          <a:prstGeom prst="roundRect">
            <a:avLst>
              <a:gd name="adj" fmla="val 100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"/>
          <p:cNvSpPr/>
          <p:nvPr/>
        </p:nvSpPr>
        <p:spPr>
          <a:xfrm>
            <a:off x="6763941" y="1616050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SearchPage</a:t>
            </a:r>
            <a:endParaRPr lang="en-US" sz="1200" dirty="0">
              <a:latin typeface="+mj-lt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763941" y="1923529"/>
            <a:ext cx="1756544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楽天 API で書籍検索 → タップで即登録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391025" y="2553519"/>
            <a:ext cx="2078980" cy="966043"/>
          </a:xfrm>
          <a:prstGeom prst="roundRect">
            <a:avLst>
              <a:gd name="adj" fmla="val 709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7"/>
          <p:cNvSpPr/>
          <p:nvPr/>
        </p:nvSpPr>
        <p:spPr>
          <a:xfrm>
            <a:off x="4376738" y="2553519"/>
            <a:ext cx="57150" cy="966043"/>
          </a:xfrm>
          <a:prstGeom prst="roundRect">
            <a:avLst>
              <a:gd name="adj" fmla="val 100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8"/>
          <p:cNvSpPr/>
          <p:nvPr/>
        </p:nvSpPr>
        <p:spPr>
          <a:xfrm>
            <a:off x="4573712" y="269334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BookDetailPage</a:t>
            </a:r>
            <a:endParaRPr lang="en-US" sz="1200" dirty="0">
              <a:latin typeface="+mj-lt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573712" y="3000821"/>
            <a:ext cx="1756470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Hero 遷移、評価・進捗・レビュー一覧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581254" y="2553519"/>
            <a:ext cx="2079054" cy="966043"/>
          </a:xfrm>
          <a:prstGeom prst="roundRect">
            <a:avLst>
              <a:gd name="adj" fmla="val 709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1"/>
          <p:cNvSpPr/>
          <p:nvPr/>
        </p:nvSpPr>
        <p:spPr>
          <a:xfrm>
            <a:off x="6566967" y="2553519"/>
            <a:ext cx="57150" cy="966043"/>
          </a:xfrm>
          <a:prstGeom prst="roundRect">
            <a:avLst>
              <a:gd name="adj" fmla="val 100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2"/>
          <p:cNvSpPr/>
          <p:nvPr/>
        </p:nvSpPr>
        <p:spPr>
          <a:xfrm>
            <a:off x="6763941" y="269334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ReviewEditPage</a:t>
            </a:r>
            <a:endParaRPr lang="en-US" sz="1200" dirty="0">
              <a:latin typeface="+mj-lt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763941" y="3000821"/>
            <a:ext cx="1756544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感想・引用メモを自由に記録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391025" y="3630811"/>
            <a:ext cx="2078980" cy="966043"/>
          </a:xfrm>
          <a:prstGeom prst="roundRect">
            <a:avLst>
              <a:gd name="adj" fmla="val 709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5"/>
          <p:cNvSpPr/>
          <p:nvPr/>
        </p:nvSpPr>
        <p:spPr>
          <a:xfrm>
            <a:off x="4376738" y="3630811"/>
            <a:ext cx="57150" cy="966043"/>
          </a:xfrm>
          <a:prstGeom prst="roundRect">
            <a:avLst>
              <a:gd name="adj" fmla="val 100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6"/>
          <p:cNvSpPr/>
          <p:nvPr/>
        </p:nvSpPr>
        <p:spPr>
          <a:xfrm>
            <a:off x="4573712" y="3770635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StatsPage</a:t>
            </a:r>
            <a:endParaRPr lang="en-US" sz="1200" dirty="0">
              <a:latin typeface="+mj-lt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4573712" y="4078114"/>
            <a:ext cx="1756470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月別完読数、累計、ペース　予測グラフ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520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+mj-lt"/>
                <a:ea typeface="Lora" pitchFamily="34" charset="-122"/>
                <a:cs typeface="Lora" pitchFamily="34" charset="-120"/>
              </a:rPr>
              <a:t>技術スタック</a:t>
            </a:r>
            <a:endParaRPr lang="en-US" sz="275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411709"/>
            <a:ext cx="4004965" cy="845418"/>
          </a:xfrm>
          <a:prstGeom prst="roundRect">
            <a:avLst>
              <a:gd name="adj" fmla="val 676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4" name="Text 2"/>
          <p:cNvSpPr/>
          <p:nvPr/>
        </p:nvSpPr>
        <p:spPr>
          <a:xfrm>
            <a:off x="652165" y="15677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フレームワーク</a:t>
            </a:r>
            <a:endParaRPr lang="en-US" sz="13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2165" y="1874267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Flutter（SDK ^3.9.2）/ Dart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411709"/>
            <a:ext cx="4005039" cy="845418"/>
          </a:xfrm>
          <a:prstGeom prst="roundRect">
            <a:avLst>
              <a:gd name="adj" fmla="val 676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98888" y="15677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外部 API</a:t>
            </a:r>
            <a:endParaRPr lang="en-US" sz="135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98888" y="1874267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楽天 Books API — 書籍メタデータ取得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398886"/>
            <a:ext cx="4004965" cy="845418"/>
          </a:xfrm>
          <a:prstGeom prst="roundRect">
            <a:avLst>
              <a:gd name="adj" fmla="val 676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52165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ローカル DB</a:t>
            </a:r>
            <a:endParaRPr lang="en-US" sz="135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165" y="2861444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Hive — 軽量 NoSQL、高速な端末内永続化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398886"/>
            <a:ext cx="4005039" cy="845418"/>
          </a:xfrm>
          <a:prstGeom prst="roundRect">
            <a:avLst>
              <a:gd name="adj" fmla="val 676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98888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状態管理</a:t>
            </a:r>
            <a:endParaRPr lang="en-US" sz="135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98888" y="2861444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Riverpod — リアクティブな状態管理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386063"/>
            <a:ext cx="4004965" cy="1072232"/>
          </a:xfrm>
          <a:prstGeom prst="roundRect">
            <a:avLst>
              <a:gd name="adj" fmla="val 533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52165" y="3542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HTTP 通信</a:t>
            </a:r>
            <a:endParaRPr lang="en-US" sz="135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2165" y="3848621"/>
            <a:ext cx="36928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http パッケージ + cached_network_image で表紙を　　　　キャッシュ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386063"/>
            <a:ext cx="4005039" cy="1072232"/>
          </a:xfrm>
          <a:prstGeom prst="roundRect">
            <a:avLst>
              <a:gd name="adj" fmla="val 533"/>
            </a:avLst>
          </a:prstGeom>
          <a:solidFill>
            <a:srgbClr val="EEE8DD"/>
          </a:solidFill>
          <a:ln w="14288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98888" y="3542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46558"/>
                </a:solidFill>
                <a:latin typeface="+mj-lt"/>
                <a:ea typeface="Lora" pitchFamily="34" charset="-122"/>
                <a:cs typeface="Lora" pitchFamily="34" charset="-120"/>
              </a:rPr>
              <a:t>統計グラフ</a:t>
            </a:r>
            <a:endParaRPr lang="en-US" sz="135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98888" y="3848621"/>
            <a:ext cx="3692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ea typeface="Source Sans 3" pitchFamily="34" charset="-122"/>
                <a:cs typeface="Source Sans 3" pitchFamily="34" charset="-120"/>
              </a:rPr>
              <a:t>fl_chart — 月別読書ペースをリッチに可視化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273</Words>
  <Application>Microsoft Office PowerPoint</Application>
  <PresentationFormat>画面に合わせる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Lora</vt:lpstr>
      <vt:lpstr>Source Sans 3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鈴木花織</dc:creator>
  <cp:lastModifiedBy>鈴木 花織(zeal23410157)</cp:lastModifiedBy>
  <cp:revision>4</cp:revision>
  <dcterms:created xsi:type="dcterms:W3CDTF">2026-05-13T05:56:29Z</dcterms:created>
  <dcterms:modified xsi:type="dcterms:W3CDTF">2026-05-20T07:10:42Z</dcterms:modified>
</cp:coreProperties>
</file>