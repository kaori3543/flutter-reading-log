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embeddedFontLst>
    <p:embeddedFont>
      <p:font typeface="Lora" pitchFamily="2" charset="0"/>
      <p:regular r:id="rId12"/>
      <p:bold r:id="rId13"/>
      <p:italic r:id="rId14"/>
      <p:boldItalic r:id="rId15"/>
    </p:embeddedFont>
    <p:embeddedFont>
      <p:font typeface="Source Sans 3" panose="020B0600070205080204" charset="0"/>
      <p:regular r:id="rId16"/>
    </p:embeddedFont>
  </p:embeddedFont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5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9592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CFB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6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2130549"/>
            <a:ext cx="35441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484237"/>
                </a:solidFill>
                <a:latin typeface="+mj-lt"/>
                <a:ea typeface="Lora" pitchFamily="34" charset="-122"/>
                <a:cs typeface="Lora" pitchFamily="34" charset="-120"/>
              </a:rPr>
              <a:t>読書記録アプリ</a:t>
            </a:r>
            <a:endParaRPr lang="en-US" sz="2750" dirty="0">
              <a:latin typeface="+mj-lt"/>
            </a:endParaRPr>
          </a:p>
        </p:txBody>
      </p:sp>
      <p:sp>
        <p:nvSpPr>
          <p:cNvPr id="4" name="Text 1"/>
          <p:cNvSpPr/>
          <p:nvPr/>
        </p:nvSpPr>
        <p:spPr>
          <a:xfrm>
            <a:off x="3925119" y="2786137"/>
            <a:ext cx="47227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i="1" dirty="0">
                <a:solidFill>
                  <a:srgbClr val="746558"/>
                </a:solidFill>
                <a:ea typeface="+mj-ea"/>
                <a:cs typeface="Source Sans 3" pitchFamily="34" charset="-120"/>
              </a:rPr>
              <a:t>Reading Log</a:t>
            </a:r>
            <a:r>
              <a:rPr lang="en-US" sz="1100" dirty="0">
                <a:solidFill>
                  <a:srgbClr val="746558"/>
                </a:solidFill>
                <a:ea typeface="+mj-ea"/>
                <a:cs typeface="Source Sans 3" pitchFamily="34" charset="-120"/>
              </a:rPr>
              <a:t> — あなたの読書体験を、もっと豊かに</a:t>
            </a: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11857"/>
            <a:ext cx="81517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latin typeface="+mj-lt"/>
                <a:ea typeface="Source Sans 3" pitchFamily="34" charset="-122"/>
                <a:cs typeface="Source Sans 3" pitchFamily="34" charset="-120"/>
              </a:rPr>
              <a:t>コンセプト</a:t>
            </a:r>
            <a:endParaRPr lang="en-US" sz="1100" dirty="0">
              <a:latin typeface="+mj-lt"/>
            </a:endParaRPr>
          </a:p>
        </p:txBody>
      </p:sp>
      <p:sp>
        <p:nvSpPr>
          <p:cNvPr id="3" name="Text 1"/>
          <p:cNvSpPr/>
          <p:nvPr/>
        </p:nvSpPr>
        <p:spPr>
          <a:xfrm>
            <a:off x="496119" y="1180430"/>
            <a:ext cx="4890939" cy="1222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50" dirty="0">
                <a:solidFill>
                  <a:srgbClr val="484237"/>
                </a:solidFill>
                <a:latin typeface="+mj-lt"/>
                <a:ea typeface="Lora" pitchFamily="34" charset="-122"/>
                <a:cs typeface="Lora" pitchFamily="34" charset="-120"/>
              </a:rPr>
              <a:t>読書を続けたくなる、</a:t>
            </a:r>
            <a:endParaRPr lang="en-US" sz="3850" dirty="0">
              <a:latin typeface="+mj-lt"/>
            </a:endParaRPr>
          </a:p>
          <a:p>
            <a:pPr marL="0" indent="0" algn="l">
              <a:lnSpc>
                <a:spcPts val="4800"/>
              </a:lnSpc>
              <a:buNone/>
            </a:pPr>
            <a:r>
              <a:rPr lang="en-US" sz="3850" dirty="0">
                <a:solidFill>
                  <a:srgbClr val="484237"/>
                </a:solidFill>
                <a:latin typeface="+mj-lt"/>
                <a:ea typeface="Lora" pitchFamily="34" charset="-122"/>
                <a:cs typeface="Lora" pitchFamily="34" charset="-120"/>
              </a:rPr>
              <a:t>シンプルな記録アプリ</a:t>
            </a:r>
            <a:endParaRPr lang="en-US" sz="3850" dirty="0">
              <a:latin typeface="+mj-lt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96119" y="2615803"/>
            <a:ext cx="4004965" cy="850776"/>
          </a:xfrm>
          <a:prstGeom prst="roundRect">
            <a:avLst>
              <a:gd name="adj" fmla="val 672"/>
            </a:avLst>
          </a:prstGeom>
          <a:solidFill>
            <a:srgbClr val="EEE8DD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652165" y="2771849"/>
            <a:ext cx="369287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746558"/>
                </a:solidFill>
                <a:latin typeface="+mj-lt"/>
                <a:ea typeface="Source Sans 3" pitchFamily="34" charset="-122"/>
                <a:cs typeface="Source Sans 3" pitchFamily="34" charset="-120"/>
              </a:rPr>
              <a:t>１.　簡単登録</a:t>
            </a:r>
            <a:endParaRPr lang="en-US" sz="1100" dirty="0">
              <a:latin typeface="+mj-lt"/>
            </a:endParaRPr>
          </a:p>
        </p:txBody>
      </p:sp>
      <p:sp>
        <p:nvSpPr>
          <p:cNvPr id="6" name="Text 4"/>
          <p:cNvSpPr/>
          <p:nvPr/>
        </p:nvSpPr>
        <p:spPr>
          <a:xfrm>
            <a:off x="652165" y="3083719"/>
            <a:ext cx="369287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楽天 Books API でタイトル・著者から検索して本棚に追加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42842" y="2615803"/>
            <a:ext cx="4005039" cy="850776"/>
          </a:xfrm>
          <a:prstGeom prst="roundRect">
            <a:avLst>
              <a:gd name="adj" fmla="val 672"/>
            </a:avLst>
          </a:prstGeom>
          <a:solidFill>
            <a:srgbClr val="EEE8DD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 dirty="0"/>
          </a:p>
        </p:txBody>
      </p:sp>
      <p:sp>
        <p:nvSpPr>
          <p:cNvPr id="8" name="Text 6"/>
          <p:cNvSpPr/>
          <p:nvPr/>
        </p:nvSpPr>
        <p:spPr>
          <a:xfrm>
            <a:off x="4798888" y="2771849"/>
            <a:ext cx="369294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746558"/>
                </a:solidFill>
                <a:latin typeface="+mj-lt"/>
                <a:ea typeface="Source Sans 3" pitchFamily="34" charset="-122"/>
                <a:cs typeface="Source Sans 3" pitchFamily="34" charset="-120"/>
              </a:rPr>
              <a:t>2. 　3ステータス管理</a:t>
            </a:r>
            <a:endParaRPr lang="en-US" sz="1100" dirty="0">
              <a:latin typeface="+mj-lt"/>
            </a:endParaRPr>
          </a:p>
        </p:txBody>
      </p:sp>
      <p:sp>
        <p:nvSpPr>
          <p:cNvPr id="9" name="Text 7"/>
          <p:cNvSpPr/>
          <p:nvPr/>
        </p:nvSpPr>
        <p:spPr>
          <a:xfrm>
            <a:off x="4798888" y="3083719"/>
            <a:ext cx="369294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「読みたい / 読書中 / 読了」で本の状態をシンプルに整理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6119" y="3608338"/>
            <a:ext cx="4004965" cy="850776"/>
          </a:xfrm>
          <a:prstGeom prst="roundRect">
            <a:avLst>
              <a:gd name="adj" fmla="val 672"/>
            </a:avLst>
          </a:prstGeom>
          <a:solidFill>
            <a:srgbClr val="EEE8DD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652165" y="3764384"/>
            <a:ext cx="369287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latin typeface="+mj-lt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100" b="1" dirty="0">
                <a:solidFill>
                  <a:srgbClr val="746558"/>
                </a:solidFill>
                <a:latin typeface="+mj-lt"/>
                <a:ea typeface="Source Sans 3" pitchFamily="34" charset="-122"/>
                <a:cs typeface="Source Sans 3" pitchFamily="34" charset="-120"/>
              </a:rPr>
              <a:t>3.　記録・レビュー</a:t>
            </a:r>
            <a:endParaRPr lang="en-US" sz="1100" dirty="0">
              <a:latin typeface="+mj-lt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52165" y="4076254"/>
            <a:ext cx="369287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読書進捗・評価・感想メモをいつでも振り返れる形で保存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2841" y="3608338"/>
            <a:ext cx="4005039" cy="850776"/>
          </a:xfrm>
          <a:prstGeom prst="roundRect">
            <a:avLst>
              <a:gd name="adj" fmla="val 672"/>
            </a:avLst>
          </a:prstGeom>
          <a:solidFill>
            <a:srgbClr val="EEE8DD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4798888" y="3764384"/>
            <a:ext cx="369294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746558"/>
                </a:solidFill>
                <a:latin typeface="+mj-lt"/>
                <a:ea typeface="Source Sans 3" pitchFamily="34" charset="-122"/>
                <a:cs typeface="Source Sans 3" pitchFamily="34" charset="-120"/>
              </a:rPr>
              <a:t>4. 　</a:t>
            </a:r>
            <a:r>
              <a:rPr lang="ja-JP" altLang="en-US" sz="1100" b="1" dirty="0">
                <a:solidFill>
                  <a:srgbClr val="746558"/>
                </a:solidFill>
                <a:latin typeface="+mj-lt"/>
                <a:ea typeface="Source Sans 3" pitchFamily="34" charset="-122"/>
                <a:cs typeface="Source Sans 3" pitchFamily="34" charset="-120"/>
              </a:rPr>
              <a:t>統計分析</a:t>
            </a:r>
            <a:endParaRPr lang="en-US" sz="1100" dirty="0">
              <a:latin typeface="+mj-lt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798888" y="4076254"/>
            <a:ext cx="369294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月別の読書ペースを可視化して、習慣化をサポート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8379" y="460846"/>
            <a:ext cx="3139901" cy="39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dirty="0">
                <a:solidFill>
                  <a:srgbClr val="484237"/>
                </a:solidFill>
                <a:latin typeface="+mj-lt"/>
                <a:ea typeface="Lora" pitchFamily="34" charset="-122"/>
                <a:cs typeface="Lora" pitchFamily="34" charset="-120"/>
              </a:rPr>
              <a:t>背景・課題</a:t>
            </a:r>
            <a:endParaRPr lang="en-US" sz="2450" dirty="0">
              <a:latin typeface="+mj-lt"/>
            </a:endParaRPr>
          </a:p>
        </p:txBody>
      </p:sp>
      <p:sp>
        <p:nvSpPr>
          <p:cNvPr id="4" name="Text 1"/>
          <p:cNvSpPr/>
          <p:nvPr/>
        </p:nvSpPr>
        <p:spPr>
          <a:xfrm>
            <a:off x="488379" y="1020217"/>
            <a:ext cx="4738241" cy="189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読書管理にまつわる </a:t>
            </a:r>
            <a:r>
              <a:rPr lang="en-US" sz="950" b="1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4つの困りごと</a:t>
            </a:r>
            <a:endParaRPr lang="en-US" sz="950" dirty="0"/>
          </a:p>
        </p:txBody>
      </p:sp>
      <p:sp>
        <p:nvSpPr>
          <p:cNvPr id="5" name="Shape 2"/>
          <p:cNvSpPr/>
          <p:nvPr/>
        </p:nvSpPr>
        <p:spPr>
          <a:xfrm>
            <a:off x="488379" y="1334839"/>
            <a:ext cx="4738241" cy="753517"/>
          </a:xfrm>
          <a:prstGeom prst="roundRect">
            <a:avLst>
              <a:gd name="adj" fmla="val 758"/>
            </a:avLst>
          </a:prstGeom>
          <a:solidFill>
            <a:srgbClr val="F9F6F0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3"/>
          <p:cNvSpPr/>
          <p:nvPr/>
        </p:nvSpPr>
        <p:spPr>
          <a:xfrm>
            <a:off x="502667" y="1349127"/>
            <a:ext cx="502369" cy="724942"/>
          </a:xfrm>
          <a:prstGeom prst="rect">
            <a:avLst/>
          </a:prstGeom>
          <a:solidFill>
            <a:srgbClr val="EEE8D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4"/>
          <p:cNvSpPr/>
          <p:nvPr/>
        </p:nvSpPr>
        <p:spPr>
          <a:xfrm>
            <a:off x="652537" y="1593875"/>
            <a:ext cx="188342" cy="235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116285" y="1474663"/>
            <a:ext cx="15699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「あれ、何だっけ」</a:t>
            </a:r>
            <a:endParaRPr lang="en-US" sz="1200" dirty="0">
              <a:latin typeface="+mj-lt"/>
            </a:endParaRPr>
          </a:p>
        </p:txBody>
      </p:sp>
      <p:sp>
        <p:nvSpPr>
          <p:cNvPr id="9" name="Text 6"/>
          <p:cNvSpPr/>
          <p:nvPr/>
        </p:nvSpPr>
        <p:spPr>
          <a:xfrm>
            <a:off x="1116285" y="1737643"/>
            <a:ext cx="3970511" cy="189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読みたい本のリストが頭の中だけ。書店に行くと思い出せない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88379" y="2199605"/>
            <a:ext cx="4738241" cy="753517"/>
          </a:xfrm>
          <a:prstGeom prst="roundRect">
            <a:avLst>
              <a:gd name="adj" fmla="val 758"/>
            </a:avLst>
          </a:prstGeom>
          <a:solidFill>
            <a:srgbClr val="F9F6F0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8"/>
          <p:cNvSpPr/>
          <p:nvPr/>
        </p:nvSpPr>
        <p:spPr>
          <a:xfrm>
            <a:off x="502667" y="2213893"/>
            <a:ext cx="502369" cy="724942"/>
          </a:xfrm>
          <a:prstGeom prst="rect">
            <a:avLst/>
          </a:prstGeom>
          <a:solidFill>
            <a:srgbClr val="EEE8D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9"/>
          <p:cNvSpPr/>
          <p:nvPr/>
        </p:nvSpPr>
        <p:spPr>
          <a:xfrm>
            <a:off x="652537" y="2458641"/>
            <a:ext cx="188342" cy="235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2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1116285" y="2339429"/>
            <a:ext cx="1726332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積読の全体像が見えない</a:t>
            </a:r>
            <a:endParaRPr lang="en-US" sz="1200" dirty="0">
              <a:latin typeface="+mj-lt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116285" y="2602409"/>
            <a:ext cx="3970511" cy="189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「積読」は増えていく一方で、今何冊あるのかすら把握できていない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88379" y="3064371"/>
            <a:ext cx="4738241" cy="753517"/>
          </a:xfrm>
          <a:prstGeom prst="roundRect">
            <a:avLst>
              <a:gd name="adj" fmla="val 758"/>
            </a:avLst>
          </a:prstGeom>
          <a:solidFill>
            <a:srgbClr val="F9F6F0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3"/>
          <p:cNvSpPr/>
          <p:nvPr/>
        </p:nvSpPr>
        <p:spPr>
          <a:xfrm>
            <a:off x="502667" y="3078659"/>
            <a:ext cx="502369" cy="724942"/>
          </a:xfrm>
          <a:prstGeom prst="rect">
            <a:avLst/>
          </a:prstGeom>
          <a:solidFill>
            <a:srgbClr val="EEE8D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4"/>
          <p:cNvSpPr/>
          <p:nvPr/>
        </p:nvSpPr>
        <p:spPr>
          <a:xfrm>
            <a:off x="652537" y="3323406"/>
            <a:ext cx="188342" cy="235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3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1116285" y="3204195"/>
            <a:ext cx="15699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感想が残せない</a:t>
            </a:r>
            <a:endParaRPr lang="en-US" sz="1200" dirty="0">
              <a:latin typeface="+mj-lt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1116285" y="3467174"/>
            <a:ext cx="3970511" cy="189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読んだ直後の気づきや感動が記録されず、振り返ることができない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88379" y="3929137"/>
            <a:ext cx="4738241" cy="753517"/>
          </a:xfrm>
          <a:prstGeom prst="roundRect">
            <a:avLst>
              <a:gd name="adj" fmla="val 758"/>
            </a:avLst>
          </a:prstGeom>
          <a:solidFill>
            <a:srgbClr val="F9F6F0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8"/>
          <p:cNvSpPr/>
          <p:nvPr/>
        </p:nvSpPr>
        <p:spPr>
          <a:xfrm>
            <a:off x="502667" y="3943424"/>
            <a:ext cx="502369" cy="724942"/>
          </a:xfrm>
          <a:prstGeom prst="rect">
            <a:avLst/>
          </a:prstGeom>
          <a:solidFill>
            <a:srgbClr val="EEE8D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19"/>
          <p:cNvSpPr/>
          <p:nvPr/>
        </p:nvSpPr>
        <p:spPr>
          <a:xfrm>
            <a:off x="652537" y="4188172"/>
            <a:ext cx="188342" cy="235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4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1116285" y="4068961"/>
            <a:ext cx="15699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読書ペースが不明</a:t>
            </a:r>
            <a:endParaRPr lang="en-US" sz="1200" dirty="0">
              <a:latin typeface="+mj-lt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1116285" y="4331940"/>
            <a:ext cx="3970511" cy="189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月に何冊読んでいるか分からず、現実的な目標を立てるのが難しい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894011"/>
            <a:ext cx="35441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484237"/>
                </a:solidFill>
                <a:latin typeface="+mj-lt"/>
                <a:ea typeface="Lora" pitchFamily="34" charset="-122"/>
                <a:cs typeface="Lora" pitchFamily="34" charset="-120"/>
              </a:rPr>
              <a:t>解決策</a:t>
            </a:r>
            <a:endParaRPr lang="en-US" sz="2750" dirty="0">
              <a:latin typeface="+mj-lt"/>
            </a:endParaRPr>
          </a:p>
        </p:txBody>
      </p:sp>
      <p:sp>
        <p:nvSpPr>
          <p:cNvPr id="4" name="Text 1"/>
          <p:cNvSpPr/>
          <p:nvPr/>
        </p:nvSpPr>
        <p:spPr>
          <a:xfrm>
            <a:off x="496119" y="1393701"/>
            <a:ext cx="3457501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746558"/>
                </a:solidFill>
                <a:highlight>
                  <a:srgbClr val="ECE9E3"/>
                </a:highlight>
                <a:latin typeface="+mj-lt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50" dirty="0">
                <a:solidFill>
                  <a:srgbClr val="484237"/>
                </a:solidFill>
                <a:latin typeface="+mj-lt"/>
                <a:ea typeface="Lora" pitchFamily="34" charset="-122"/>
                <a:cs typeface="Lora" pitchFamily="34" charset="-120"/>
              </a:rPr>
              <a:t>つのアプリで、本との付き合いを一元管理</a:t>
            </a:r>
            <a:endParaRPr lang="en-US" sz="1350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496119" y="1832521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検索 → 登録 → 整理 → 振り返りを、すべて1アプリで完結。　　　　　　　データは蓄積されるほど価値を増す設計。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96119" y="2445618"/>
            <a:ext cx="47227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02382" y="2831902"/>
            <a:ext cx="19050" cy="1417588"/>
          </a:xfrm>
          <a:prstGeom prst="roundRect">
            <a:avLst>
              <a:gd name="adj" fmla="val 30000"/>
            </a:avLst>
          </a:prstGeom>
          <a:solidFill>
            <a:srgbClr val="D4CEC3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5"/>
          <p:cNvSpPr/>
          <p:nvPr/>
        </p:nvSpPr>
        <p:spPr>
          <a:xfrm>
            <a:off x="583332" y="2981846"/>
            <a:ext cx="283518" cy="19050"/>
          </a:xfrm>
          <a:prstGeom prst="roundRect">
            <a:avLst>
              <a:gd name="adj" fmla="val 30000"/>
            </a:avLst>
          </a:prstGeom>
          <a:solidFill>
            <a:srgbClr val="D4CEC3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Shape 6"/>
          <p:cNvSpPr/>
          <p:nvPr/>
        </p:nvSpPr>
        <p:spPr>
          <a:xfrm>
            <a:off x="549250" y="2938239"/>
            <a:ext cx="106263" cy="106263"/>
          </a:xfrm>
          <a:prstGeom prst="roundRect">
            <a:avLst>
              <a:gd name="adj" fmla="val 268908"/>
            </a:avLst>
          </a:prstGeom>
          <a:solidFill>
            <a:srgbClr val="D3C5B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7"/>
          <p:cNvSpPr/>
          <p:nvPr/>
        </p:nvSpPr>
        <p:spPr>
          <a:xfrm>
            <a:off x="1169491" y="2877964"/>
            <a:ext cx="404939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楽天 API で即座に書籍を検索・登録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83332" y="3548881"/>
            <a:ext cx="283518" cy="19050"/>
          </a:xfrm>
          <a:prstGeom prst="roundRect">
            <a:avLst>
              <a:gd name="adj" fmla="val 30000"/>
            </a:avLst>
          </a:prstGeom>
          <a:solidFill>
            <a:srgbClr val="D4CEC3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9"/>
          <p:cNvSpPr/>
          <p:nvPr/>
        </p:nvSpPr>
        <p:spPr>
          <a:xfrm>
            <a:off x="549250" y="3505274"/>
            <a:ext cx="106263" cy="106263"/>
          </a:xfrm>
          <a:prstGeom prst="roundRect">
            <a:avLst>
              <a:gd name="adj" fmla="val 268908"/>
            </a:avLst>
          </a:prstGeom>
          <a:solidFill>
            <a:srgbClr val="D3C5B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0"/>
          <p:cNvSpPr/>
          <p:nvPr/>
        </p:nvSpPr>
        <p:spPr>
          <a:xfrm>
            <a:off x="1169491" y="3444999"/>
            <a:ext cx="404939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ステータスと統計で読書習慣を見える化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3332" y="4115916"/>
            <a:ext cx="283518" cy="19050"/>
          </a:xfrm>
          <a:prstGeom prst="roundRect">
            <a:avLst>
              <a:gd name="adj" fmla="val 30000"/>
            </a:avLst>
          </a:prstGeom>
          <a:solidFill>
            <a:srgbClr val="D4CEC3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2"/>
          <p:cNvSpPr/>
          <p:nvPr/>
        </p:nvSpPr>
        <p:spPr>
          <a:xfrm>
            <a:off x="549250" y="4072310"/>
            <a:ext cx="106263" cy="106263"/>
          </a:xfrm>
          <a:prstGeom prst="roundRect">
            <a:avLst>
              <a:gd name="adj" fmla="val 268908"/>
            </a:avLst>
          </a:prstGeom>
          <a:solidFill>
            <a:srgbClr val="D3C5B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3"/>
          <p:cNvSpPr/>
          <p:nvPr/>
        </p:nvSpPr>
        <p:spPr>
          <a:xfrm>
            <a:off x="1169491" y="4012034"/>
            <a:ext cx="404939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続けるほど楽しくなる体験設計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189509"/>
            <a:ext cx="35441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484237"/>
                </a:solidFill>
                <a:latin typeface="+mj-lt"/>
                <a:ea typeface="Lora" pitchFamily="34" charset="-122"/>
                <a:cs typeface="Lora" pitchFamily="34" charset="-120"/>
              </a:rPr>
              <a:t>ターゲットユーザー</a:t>
            </a:r>
            <a:endParaRPr lang="en-US" sz="2750" dirty="0">
              <a:latin typeface="+mj-lt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916013"/>
            <a:ext cx="877193" cy="87719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0491" y="1916013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ライトな読書家</a:t>
            </a:r>
            <a:endParaRPr lang="en-US" sz="1350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1550491" y="2222525"/>
            <a:ext cx="2932881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読書を続けたいけれど、専用ノートを開く　ほどではない。手軽に記録したい人。</a:t>
            </a:r>
            <a:endParaRPr lang="en-US" sz="11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0553" y="1916013"/>
            <a:ext cx="877193" cy="87719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14926" y="1916013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積読整理したい人</a:t>
            </a:r>
            <a:endParaRPr lang="en-US" sz="1350" dirty="0">
              <a:latin typeface="+mj-lt"/>
            </a:endParaRPr>
          </a:p>
        </p:txBody>
      </p:sp>
      <p:sp>
        <p:nvSpPr>
          <p:cNvPr id="8" name="Text 4"/>
          <p:cNvSpPr/>
          <p:nvPr/>
        </p:nvSpPr>
        <p:spPr>
          <a:xfrm>
            <a:off x="5714926" y="2222525"/>
            <a:ext cx="293295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積読本を一覧で把握し、計画的に読み進め　たい人。</a:t>
            </a:r>
            <a:endParaRPr lang="en-US" sz="11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19" y="3076724"/>
            <a:ext cx="877193" cy="87719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50491" y="3076724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振り返りたい人</a:t>
            </a:r>
            <a:endParaRPr lang="en-US" sz="1350" dirty="0">
              <a:latin typeface="+mj-lt"/>
            </a:endParaRPr>
          </a:p>
        </p:txBody>
      </p:sp>
      <p:sp>
        <p:nvSpPr>
          <p:cNvPr id="11" name="Text 6"/>
          <p:cNvSpPr/>
          <p:nvPr/>
        </p:nvSpPr>
        <p:spPr>
          <a:xfrm>
            <a:off x="1550491" y="3383235"/>
            <a:ext cx="2932881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読んだ本の感想をコンパクトに自分用に　　残し、いつでも振り返りたい人。</a:t>
            </a:r>
            <a:endParaRPr lang="en-US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0553" y="3076724"/>
            <a:ext cx="877193" cy="87719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714926" y="3076724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74655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データで把握したい人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5714926" y="3383235"/>
            <a:ext cx="293295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月にどれくらい読んでいるか、数字と　　　グラフで確認したい人。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967234"/>
            <a:ext cx="35441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484237"/>
                </a:solidFill>
                <a:latin typeface="+mj-lt"/>
                <a:ea typeface="Lora" pitchFamily="34" charset="-122"/>
                <a:cs typeface="Lora" pitchFamily="34" charset="-120"/>
              </a:rPr>
              <a:t>主要機能（MVP）</a:t>
            </a:r>
            <a:endParaRPr lang="en-US" sz="2750" dirty="0">
              <a:latin typeface="+mj-lt"/>
            </a:endParaRPr>
          </a:p>
        </p:txBody>
      </p:sp>
      <p:sp>
        <p:nvSpPr>
          <p:cNvPr id="3" name="Text 1"/>
          <p:cNvSpPr/>
          <p:nvPr/>
        </p:nvSpPr>
        <p:spPr>
          <a:xfrm>
            <a:off x="496119" y="1693738"/>
            <a:ext cx="81517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96119" y="2080022"/>
            <a:ext cx="2622724" cy="1081757"/>
          </a:xfrm>
          <a:prstGeom prst="roundRect">
            <a:avLst>
              <a:gd name="adj" fmla="val 8453"/>
            </a:avLst>
          </a:prstGeom>
          <a:solidFill>
            <a:srgbClr val="F9F6F0"/>
          </a:solidFill>
          <a:ln w="19050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477069" y="2080022"/>
            <a:ext cx="76200" cy="1081757"/>
          </a:xfrm>
          <a:prstGeom prst="roundRect">
            <a:avLst>
              <a:gd name="adj" fmla="val 7500"/>
            </a:avLst>
          </a:prstGeom>
          <a:solidFill>
            <a:srgbClr val="D3C5B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950044" y="2240831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5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本の検索</a:t>
            </a:r>
            <a:endParaRPr lang="en-US" sz="1350" dirty="0">
              <a:latin typeface="+mj-lt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4077" y="2547342"/>
            <a:ext cx="224395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楽天 Books API でタイトル・著者　から瞬時に検索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0601" y="2080022"/>
            <a:ext cx="2622724" cy="1081757"/>
          </a:xfrm>
          <a:prstGeom prst="roundRect">
            <a:avLst>
              <a:gd name="adj" fmla="val 8453"/>
            </a:avLst>
          </a:prstGeom>
          <a:solidFill>
            <a:srgbClr val="F9F6F0"/>
          </a:solidFill>
          <a:ln w="19050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241551" y="2080022"/>
            <a:ext cx="76200" cy="1081757"/>
          </a:xfrm>
          <a:prstGeom prst="roundRect">
            <a:avLst>
              <a:gd name="adj" fmla="val 7500"/>
            </a:avLst>
          </a:prstGeom>
          <a:solidFill>
            <a:srgbClr val="D3C5B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3714527" y="2240831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5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本の登録</a:t>
            </a:r>
            <a:endParaRPr lang="en-US" sz="1350" dirty="0">
              <a:latin typeface="+mj-lt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478560" y="2547342"/>
            <a:ext cx="224395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「読みたい / 読書中 / 読了」の　　3ステータスで本棚に追加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25083" y="2080022"/>
            <a:ext cx="2622724" cy="1081757"/>
          </a:xfrm>
          <a:prstGeom prst="roundRect">
            <a:avLst>
              <a:gd name="adj" fmla="val 8453"/>
            </a:avLst>
          </a:prstGeom>
          <a:solidFill>
            <a:srgbClr val="F9F6F0"/>
          </a:solidFill>
          <a:ln w="19050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6006033" y="2080022"/>
            <a:ext cx="76200" cy="1081757"/>
          </a:xfrm>
          <a:prstGeom prst="roundRect">
            <a:avLst>
              <a:gd name="adj" fmla="val 7500"/>
            </a:avLst>
          </a:prstGeom>
          <a:solidFill>
            <a:srgbClr val="D3C5B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6479009" y="2240831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5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本棚一覧</a:t>
            </a:r>
            <a:endParaRPr lang="en-US" sz="1350" dirty="0">
              <a:latin typeface="+mj-lt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243042" y="2547342"/>
            <a:ext cx="224395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GridView で表紙をビジュアルに　　一覧表示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6119" y="3321248"/>
            <a:ext cx="4004965" cy="854943"/>
          </a:xfrm>
          <a:prstGeom prst="roundRect">
            <a:avLst>
              <a:gd name="adj" fmla="val 10695"/>
            </a:avLst>
          </a:prstGeom>
          <a:solidFill>
            <a:srgbClr val="F9F6F0"/>
          </a:solidFill>
          <a:ln w="19050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477069" y="3321248"/>
            <a:ext cx="76200" cy="854943"/>
          </a:xfrm>
          <a:prstGeom prst="roundRect">
            <a:avLst>
              <a:gd name="adj" fmla="val 7500"/>
            </a:avLst>
          </a:prstGeom>
          <a:solidFill>
            <a:srgbClr val="D3C5B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1641128" y="3482057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5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詳細表示</a:t>
            </a:r>
            <a:endParaRPr lang="en-US" sz="1350" dirty="0">
              <a:latin typeface="+mj-lt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14077" y="3788569"/>
            <a:ext cx="362619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Hero アニメーションで滑らかに詳細画面へ遷移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42842" y="3321248"/>
            <a:ext cx="4005039" cy="854943"/>
          </a:xfrm>
          <a:prstGeom prst="roundRect">
            <a:avLst>
              <a:gd name="adj" fmla="val 10695"/>
            </a:avLst>
          </a:prstGeom>
          <a:solidFill>
            <a:srgbClr val="F9F6F0"/>
          </a:solidFill>
          <a:ln w="19050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623792" y="3321248"/>
            <a:ext cx="76200" cy="854943"/>
          </a:xfrm>
          <a:prstGeom prst="roundRect">
            <a:avLst>
              <a:gd name="adj" fmla="val 7500"/>
            </a:avLst>
          </a:prstGeom>
          <a:solidFill>
            <a:srgbClr val="D3C5B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5787926" y="3482057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5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ローカル保存</a:t>
            </a:r>
            <a:endParaRPr lang="en-US" sz="1350" dirty="0">
              <a:latin typeface="+mj-lt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860801" y="3788569"/>
            <a:ext cx="362627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端末内にデータを永続化。オフラインでも使える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8379" y="421407"/>
            <a:ext cx="3139901" cy="39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dirty="0">
                <a:solidFill>
                  <a:srgbClr val="484237"/>
                </a:solidFill>
                <a:latin typeface="+mj-lt"/>
                <a:ea typeface="Lora" pitchFamily="34" charset="-122"/>
                <a:cs typeface="Lora" pitchFamily="34" charset="-120"/>
              </a:rPr>
              <a:t>画面構成</a:t>
            </a:r>
            <a:endParaRPr lang="en-US" sz="2450" dirty="0">
              <a:latin typeface="+mj-lt"/>
            </a:endParaRPr>
          </a:p>
        </p:txBody>
      </p:sp>
      <p:sp>
        <p:nvSpPr>
          <p:cNvPr id="3" name="Text 1"/>
          <p:cNvSpPr/>
          <p:nvPr/>
        </p:nvSpPr>
        <p:spPr>
          <a:xfrm>
            <a:off x="488379" y="1036439"/>
            <a:ext cx="8167241" cy="189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5画面</a:t>
            </a:r>
            <a:r>
              <a:rPr lang="en-US" sz="95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で構成されるシンプルかつ完結した UI</a:t>
            </a:r>
            <a:endParaRPr lang="en-US" sz="9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941" y="2190601"/>
            <a:ext cx="3232249" cy="1212875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8304" y="2499542"/>
            <a:ext cx="166957" cy="16695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79556" y="3109039"/>
            <a:ext cx="487514" cy="93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00"/>
              </a:lnSpc>
              <a:buNone/>
            </a:pPr>
            <a:r>
              <a:rPr lang="en-US" sz="550" dirty="0">
                <a:solidFill>
                  <a:srgbClr val="746558"/>
                </a:solidFill>
                <a:ea typeface="Lora" pitchFamily="34" charset="-122"/>
                <a:cs typeface="Lora" pitchFamily="34" charset="-120"/>
              </a:rPr>
              <a:t>統計</a:t>
            </a:r>
            <a:endParaRPr lang="en-US" sz="5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17085" y="2499855"/>
            <a:ext cx="166957" cy="16695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2665154" y="3109039"/>
            <a:ext cx="487514" cy="93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00"/>
              </a:lnSpc>
              <a:buNone/>
            </a:pPr>
            <a:r>
              <a:rPr lang="en-US" sz="550" dirty="0">
                <a:solidFill>
                  <a:srgbClr val="746558"/>
                </a:solidFill>
                <a:ea typeface="Lora" pitchFamily="34" charset="-122"/>
                <a:cs typeface="Lora" pitchFamily="34" charset="-120"/>
              </a:rPr>
              <a:t>レビュー</a:t>
            </a:r>
            <a:endParaRPr lang="en-US" sz="5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06023" y="2499855"/>
            <a:ext cx="166957" cy="166957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2054092" y="3109039"/>
            <a:ext cx="487514" cy="93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00"/>
              </a:lnSpc>
              <a:buNone/>
            </a:pPr>
            <a:r>
              <a:rPr lang="en-US" sz="550" dirty="0">
                <a:solidFill>
                  <a:srgbClr val="746558"/>
                </a:solidFill>
                <a:ea typeface="Lora" pitchFamily="34" charset="-122"/>
                <a:cs typeface="Lora" pitchFamily="34" charset="-120"/>
              </a:rPr>
              <a:t>詳細</a:t>
            </a:r>
            <a:endParaRPr lang="en-US" sz="5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594960" y="2499855"/>
            <a:ext cx="166957" cy="166957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443030" y="3109039"/>
            <a:ext cx="487514" cy="93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00"/>
              </a:lnSpc>
              <a:buNone/>
            </a:pPr>
            <a:r>
              <a:rPr lang="en-US" sz="550" dirty="0">
                <a:solidFill>
                  <a:srgbClr val="746558"/>
                </a:solidFill>
                <a:ea typeface="Lora" pitchFamily="34" charset="-122"/>
                <a:cs typeface="Lora" pitchFamily="34" charset="-120"/>
              </a:rPr>
              <a:t>検索</a:t>
            </a:r>
            <a:endParaRPr lang="en-US" sz="55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0559" y="2499855"/>
            <a:ext cx="166957" cy="16695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818610" y="3109039"/>
            <a:ext cx="487514" cy="93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00"/>
              </a:lnSpc>
              <a:buNone/>
            </a:pPr>
            <a:r>
              <a:rPr lang="en-US" sz="550" dirty="0">
                <a:solidFill>
                  <a:srgbClr val="746558"/>
                </a:solidFill>
                <a:ea typeface="Lora" pitchFamily="34" charset="-122"/>
                <a:cs typeface="Lora" pitchFamily="34" charset="-120"/>
              </a:rPr>
              <a:t>本棚</a:t>
            </a:r>
            <a:endParaRPr lang="en-US" sz="550" dirty="0"/>
          </a:p>
        </p:txBody>
      </p:sp>
      <p:sp>
        <p:nvSpPr>
          <p:cNvPr id="15" name="Text 7"/>
          <p:cNvSpPr/>
          <p:nvPr/>
        </p:nvSpPr>
        <p:spPr>
          <a:xfrm>
            <a:off x="488379" y="3528640"/>
            <a:ext cx="3591446" cy="378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本棚から詳細への </a:t>
            </a:r>
            <a:r>
              <a:rPr lang="en-US" sz="950" b="1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Hero アニメーション</a:t>
            </a:r>
            <a:r>
              <a:rPr lang="en-US" sz="95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が看板機能。表紙をタップした瞬間、画面が滑らかに拡大遷移します。</a:t>
            </a:r>
            <a:endParaRPr lang="en-US" sz="950" dirty="0"/>
          </a:p>
        </p:txBody>
      </p:sp>
      <p:sp>
        <p:nvSpPr>
          <p:cNvPr id="16" name="Shape 8"/>
          <p:cNvSpPr/>
          <p:nvPr/>
        </p:nvSpPr>
        <p:spPr>
          <a:xfrm>
            <a:off x="4391025" y="1476226"/>
            <a:ext cx="2078980" cy="966043"/>
          </a:xfrm>
          <a:prstGeom prst="roundRect">
            <a:avLst>
              <a:gd name="adj" fmla="val 7099"/>
            </a:avLst>
          </a:prstGeom>
          <a:solidFill>
            <a:srgbClr val="F9F6F0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 dirty="0"/>
          </a:p>
        </p:txBody>
      </p:sp>
      <p:sp>
        <p:nvSpPr>
          <p:cNvPr id="17" name="Shape 9"/>
          <p:cNvSpPr/>
          <p:nvPr/>
        </p:nvSpPr>
        <p:spPr>
          <a:xfrm>
            <a:off x="4376738" y="1476226"/>
            <a:ext cx="57150" cy="966043"/>
          </a:xfrm>
          <a:prstGeom prst="roundRect">
            <a:avLst>
              <a:gd name="adj" fmla="val 10000"/>
            </a:avLst>
          </a:prstGeom>
          <a:solidFill>
            <a:srgbClr val="D3C5B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0"/>
          <p:cNvSpPr/>
          <p:nvPr/>
        </p:nvSpPr>
        <p:spPr>
          <a:xfrm>
            <a:off x="4573712" y="1616050"/>
            <a:ext cx="15699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BookshelfPage</a:t>
            </a:r>
            <a:endParaRPr lang="en-US" sz="1200" dirty="0">
              <a:latin typeface="+mj-lt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4573712" y="1923529"/>
            <a:ext cx="1756470" cy="378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GridView で表紙一覧 + ステータスタブで絞り込み</a:t>
            </a:r>
            <a:endParaRPr lang="en-US" sz="950" dirty="0"/>
          </a:p>
        </p:txBody>
      </p:sp>
      <p:sp>
        <p:nvSpPr>
          <p:cNvPr id="20" name="Shape 12"/>
          <p:cNvSpPr/>
          <p:nvPr/>
        </p:nvSpPr>
        <p:spPr>
          <a:xfrm>
            <a:off x="6581254" y="1476226"/>
            <a:ext cx="2079054" cy="966043"/>
          </a:xfrm>
          <a:prstGeom prst="roundRect">
            <a:avLst>
              <a:gd name="adj" fmla="val 7099"/>
            </a:avLst>
          </a:prstGeom>
          <a:solidFill>
            <a:srgbClr val="F9F6F0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6566967" y="1476226"/>
            <a:ext cx="57150" cy="966043"/>
          </a:xfrm>
          <a:prstGeom prst="roundRect">
            <a:avLst>
              <a:gd name="adj" fmla="val 10000"/>
            </a:avLst>
          </a:prstGeom>
          <a:solidFill>
            <a:srgbClr val="D3C5B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14"/>
          <p:cNvSpPr/>
          <p:nvPr/>
        </p:nvSpPr>
        <p:spPr>
          <a:xfrm>
            <a:off x="6763941" y="1616050"/>
            <a:ext cx="15699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SearchPage</a:t>
            </a:r>
            <a:endParaRPr lang="en-US" sz="1200" dirty="0">
              <a:latin typeface="+mj-lt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6763941" y="1923529"/>
            <a:ext cx="1756544" cy="378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楽天 API で書籍検索 → タップで即登録</a:t>
            </a:r>
            <a:endParaRPr 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4391025" y="2553519"/>
            <a:ext cx="2078980" cy="966043"/>
          </a:xfrm>
          <a:prstGeom prst="roundRect">
            <a:avLst>
              <a:gd name="adj" fmla="val 7099"/>
            </a:avLst>
          </a:prstGeom>
          <a:solidFill>
            <a:srgbClr val="F9F6F0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17"/>
          <p:cNvSpPr/>
          <p:nvPr/>
        </p:nvSpPr>
        <p:spPr>
          <a:xfrm>
            <a:off x="4376738" y="2553519"/>
            <a:ext cx="57150" cy="966043"/>
          </a:xfrm>
          <a:prstGeom prst="roundRect">
            <a:avLst>
              <a:gd name="adj" fmla="val 10000"/>
            </a:avLst>
          </a:prstGeom>
          <a:solidFill>
            <a:srgbClr val="D3C5B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8"/>
          <p:cNvSpPr/>
          <p:nvPr/>
        </p:nvSpPr>
        <p:spPr>
          <a:xfrm>
            <a:off x="4573712" y="2693343"/>
            <a:ext cx="15699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BookDetailPage</a:t>
            </a:r>
            <a:endParaRPr lang="en-US" sz="1200" dirty="0">
              <a:latin typeface="+mj-lt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4573712" y="3000821"/>
            <a:ext cx="1756470" cy="378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Hero 遷移、評価・進捗・レビュー一覧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6581254" y="2553519"/>
            <a:ext cx="2079054" cy="966043"/>
          </a:xfrm>
          <a:prstGeom prst="roundRect">
            <a:avLst>
              <a:gd name="adj" fmla="val 7099"/>
            </a:avLst>
          </a:prstGeom>
          <a:solidFill>
            <a:srgbClr val="F9F6F0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1"/>
          <p:cNvSpPr/>
          <p:nvPr/>
        </p:nvSpPr>
        <p:spPr>
          <a:xfrm>
            <a:off x="6566967" y="2553519"/>
            <a:ext cx="57150" cy="966043"/>
          </a:xfrm>
          <a:prstGeom prst="roundRect">
            <a:avLst>
              <a:gd name="adj" fmla="val 10000"/>
            </a:avLst>
          </a:prstGeom>
          <a:solidFill>
            <a:srgbClr val="D3C5B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2"/>
          <p:cNvSpPr/>
          <p:nvPr/>
        </p:nvSpPr>
        <p:spPr>
          <a:xfrm>
            <a:off x="6763941" y="2693343"/>
            <a:ext cx="15699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ReviewEditPage</a:t>
            </a:r>
            <a:endParaRPr lang="en-US" sz="1200" dirty="0">
              <a:latin typeface="+mj-lt"/>
            </a:endParaRPr>
          </a:p>
        </p:txBody>
      </p:sp>
      <p:sp>
        <p:nvSpPr>
          <p:cNvPr id="31" name="Text 23"/>
          <p:cNvSpPr/>
          <p:nvPr/>
        </p:nvSpPr>
        <p:spPr>
          <a:xfrm>
            <a:off x="6763941" y="3000821"/>
            <a:ext cx="1756544" cy="189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感想・引用メモを自由に記録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4391025" y="3630811"/>
            <a:ext cx="2078980" cy="966043"/>
          </a:xfrm>
          <a:prstGeom prst="roundRect">
            <a:avLst>
              <a:gd name="adj" fmla="val 7099"/>
            </a:avLst>
          </a:prstGeom>
          <a:solidFill>
            <a:srgbClr val="F9F6F0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5"/>
          <p:cNvSpPr/>
          <p:nvPr/>
        </p:nvSpPr>
        <p:spPr>
          <a:xfrm>
            <a:off x="4376738" y="3630811"/>
            <a:ext cx="57150" cy="966043"/>
          </a:xfrm>
          <a:prstGeom prst="roundRect">
            <a:avLst>
              <a:gd name="adj" fmla="val 10000"/>
            </a:avLst>
          </a:prstGeom>
          <a:solidFill>
            <a:srgbClr val="D3C5B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4" name="Text 26"/>
          <p:cNvSpPr/>
          <p:nvPr/>
        </p:nvSpPr>
        <p:spPr>
          <a:xfrm>
            <a:off x="4573712" y="3770635"/>
            <a:ext cx="15699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StatsPage</a:t>
            </a:r>
            <a:endParaRPr lang="en-US" sz="1200" dirty="0">
              <a:latin typeface="+mj-lt"/>
            </a:endParaRPr>
          </a:p>
        </p:txBody>
      </p:sp>
      <p:sp>
        <p:nvSpPr>
          <p:cNvPr id="35" name="Text 27"/>
          <p:cNvSpPr/>
          <p:nvPr/>
        </p:nvSpPr>
        <p:spPr>
          <a:xfrm>
            <a:off x="4573712" y="4078114"/>
            <a:ext cx="1756470" cy="378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月別完読数、累計、ペース　予測グラフ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85205"/>
            <a:ext cx="35441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484237"/>
                </a:solidFill>
                <a:latin typeface="+mj-lt"/>
                <a:ea typeface="Lora" pitchFamily="34" charset="-122"/>
                <a:cs typeface="Lora" pitchFamily="34" charset="-120"/>
              </a:rPr>
              <a:t>技術スタック</a:t>
            </a:r>
            <a:endParaRPr lang="en-US" sz="2750" dirty="0">
              <a:latin typeface="+mj-lt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96119" y="1411709"/>
            <a:ext cx="4004965" cy="845418"/>
          </a:xfrm>
          <a:prstGeom prst="roundRect">
            <a:avLst>
              <a:gd name="adj" fmla="val 676"/>
            </a:avLst>
          </a:prstGeom>
          <a:solidFill>
            <a:srgbClr val="EEE8DD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 dirty="0"/>
          </a:p>
        </p:txBody>
      </p:sp>
      <p:sp>
        <p:nvSpPr>
          <p:cNvPr id="4" name="Text 2"/>
          <p:cNvSpPr/>
          <p:nvPr/>
        </p:nvSpPr>
        <p:spPr>
          <a:xfrm>
            <a:off x="652165" y="156775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フレームワーク</a:t>
            </a:r>
            <a:endParaRPr lang="en-US" sz="1350" dirty="0">
              <a:latin typeface="+mj-lt"/>
            </a:endParaRPr>
          </a:p>
        </p:txBody>
      </p:sp>
      <p:sp>
        <p:nvSpPr>
          <p:cNvPr id="5" name="Text 3"/>
          <p:cNvSpPr/>
          <p:nvPr/>
        </p:nvSpPr>
        <p:spPr>
          <a:xfrm>
            <a:off x="652165" y="1874267"/>
            <a:ext cx="369287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Flutter（SDK ^3.9.2）/ Dart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42842" y="1411709"/>
            <a:ext cx="4005039" cy="845418"/>
          </a:xfrm>
          <a:prstGeom prst="roundRect">
            <a:avLst>
              <a:gd name="adj" fmla="val 676"/>
            </a:avLst>
          </a:prstGeom>
          <a:solidFill>
            <a:srgbClr val="EEE8DD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4798888" y="156775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外部 API</a:t>
            </a:r>
            <a:endParaRPr lang="en-US" sz="1350" dirty="0">
              <a:latin typeface="+mj-lt"/>
            </a:endParaRPr>
          </a:p>
        </p:txBody>
      </p:sp>
      <p:sp>
        <p:nvSpPr>
          <p:cNvPr id="8" name="Text 6"/>
          <p:cNvSpPr/>
          <p:nvPr/>
        </p:nvSpPr>
        <p:spPr>
          <a:xfrm>
            <a:off x="4798888" y="1874267"/>
            <a:ext cx="369294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楽天 Books API — 書籍メタデータ取得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6119" y="2398886"/>
            <a:ext cx="4004965" cy="845418"/>
          </a:xfrm>
          <a:prstGeom prst="roundRect">
            <a:avLst>
              <a:gd name="adj" fmla="val 676"/>
            </a:avLst>
          </a:prstGeom>
          <a:solidFill>
            <a:srgbClr val="EEE8DD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652165" y="255493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ローカル DB</a:t>
            </a:r>
            <a:endParaRPr lang="en-US" sz="1350" dirty="0">
              <a:latin typeface="+mj-lt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52165" y="2861444"/>
            <a:ext cx="369287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Hive — 軽量 NoSQL、高速な端末内永続化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42842" y="2398886"/>
            <a:ext cx="4005039" cy="845418"/>
          </a:xfrm>
          <a:prstGeom prst="roundRect">
            <a:avLst>
              <a:gd name="adj" fmla="val 676"/>
            </a:avLst>
          </a:prstGeom>
          <a:solidFill>
            <a:srgbClr val="EEE8DD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4798888" y="255493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状態管理</a:t>
            </a:r>
            <a:endParaRPr lang="en-US" sz="1350" dirty="0">
              <a:latin typeface="+mj-lt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798888" y="2861444"/>
            <a:ext cx="369294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Riverpod — リアクティブな状態管理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6119" y="3386063"/>
            <a:ext cx="4004965" cy="1072232"/>
          </a:xfrm>
          <a:prstGeom prst="roundRect">
            <a:avLst>
              <a:gd name="adj" fmla="val 533"/>
            </a:avLst>
          </a:prstGeom>
          <a:solidFill>
            <a:srgbClr val="EEE8DD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52165" y="3542109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HTTP 通信</a:t>
            </a:r>
            <a:endParaRPr lang="en-US" sz="1350" dirty="0">
              <a:latin typeface="+mj-lt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52165" y="3848621"/>
            <a:ext cx="369287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http パッケージ + cached_network_image で表紙を　　　　キャッシュ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42842" y="3386063"/>
            <a:ext cx="4005039" cy="1072232"/>
          </a:xfrm>
          <a:prstGeom prst="roundRect">
            <a:avLst>
              <a:gd name="adj" fmla="val 533"/>
            </a:avLst>
          </a:prstGeom>
          <a:solidFill>
            <a:srgbClr val="EEE8DD"/>
          </a:solidFill>
          <a:ln w="14288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4798888" y="3542109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統計グラフ</a:t>
            </a:r>
            <a:endParaRPr lang="en-US" sz="1350" dirty="0">
              <a:latin typeface="+mj-lt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98888" y="3848621"/>
            <a:ext cx="369294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fl_chart — 月別読書ペースをリッチに可視化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24160"/>
            <a:ext cx="2658070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484237"/>
                </a:solidFill>
                <a:latin typeface="+mj-lt"/>
                <a:ea typeface="Lora" pitchFamily="34" charset="-122"/>
                <a:cs typeface="Lora" pitchFamily="34" charset="-120"/>
              </a:rPr>
              <a:t>開発計画</a:t>
            </a:r>
            <a:endParaRPr lang="en-US" sz="2050" dirty="0">
              <a:latin typeface="+mj-lt"/>
            </a:endParaRPr>
          </a:p>
        </p:txBody>
      </p:sp>
      <p:sp>
        <p:nvSpPr>
          <p:cNvPr id="3" name="Text 1"/>
          <p:cNvSpPr/>
          <p:nvPr/>
        </p:nvSpPr>
        <p:spPr>
          <a:xfrm>
            <a:off x="496119" y="915888"/>
            <a:ext cx="8151763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800" b="1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8週間 × 週6時間 = 合計48時間</a:t>
            </a:r>
            <a:r>
              <a:rPr lang="en-US" sz="8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で MVP から機能拡張まで段階的に実装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64856" y="1154385"/>
            <a:ext cx="14288" cy="3564954"/>
          </a:xfrm>
          <a:prstGeom prst="roundRect">
            <a:avLst>
              <a:gd name="adj" fmla="val 39999"/>
            </a:avLst>
          </a:prstGeom>
          <a:solidFill>
            <a:srgbClr val="D4CEC3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4147765" y="1266825"/>
            <a:ext cx="318939" cy="14288"/>
          </a:xfrm>
          <a:prstGeom prst="roundRect">
            <a:avLst>
              <a:gd name="adj" fmla="val 39999"/>
            </a:avLst>
          </a:prstGeom>
          <a:solidFill>
            <a:srgbClr val="D4CEC3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4452417" y="1154385"/>
            <a:ext cx="239167" cy="239167"/>
          </a:xfrm>
          <a:prstGeom prst="roundRect">
            <a:avLst>
              <a:gd name="adj" fmla="val 2390"/>
            </a:avLst>
          </a:prstGeom>
          <a:solidFill>
            <a:srgbClr val="EEE8DD"/>
          </a:solidFill>
          <a:ln w="9525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4492265" y="1174291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74655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711351" y="1190923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300"/>
              </a:lnSpc>
              <a:buNone/>
            </a:pPr>
            <a:r>
              <a:rPr lang="en-US" sz="10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W1</a:t>
            </a:r>
            <a:endParaRPr lang="en-US" sz="1000" dirty="0">
              <a:latin typeface="+mj-lt"/>
            </a:endParaRPr>
          </a:p>
        </p:txBody>
      </p:sp>
      <p:sp>
        <p:nvSpPr>
          <p:cNvPr id="9" name="Text 7"/>
          <p:cNvSpPr/>
          <p:nvPr/>
        </p:nvSpPr>
        <p:spPr>
          <a:xfrm>
            <a:off x="496119" y="1404789"/>
            <a:ext cx="3544267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150"/>
              </a:lnSpc>
              <a:buNone/>
            </a:pPr>
            <a:r>
              <a:rPr lang="en-US" sz="8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データモデル + Hive DB + 楽天 API 疎通確認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77296" y="1851571"/>
            <a:ext cx="318939" cy="14288"/>
          </a:xfrm>
          <a:prstGeom prst="roundRect">
            <a:avLst>
              <a:gd name="adj" fmla="val 39999"/>
            </a:avLst>
          </a:prstGeom>
          <a:solidFill>
            <a:srgbClr val="D4CEC3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4452417" y="1739131"/>
            <a:ext cx="239167" cy="239167"/>
          </a:xfrm>
          <a:prstGeom prst="roundRect">
            <a:avLst>
              <a:gd name="adj" fmla="val 2390"/>
            </a:avLst>
          </a:prstGeom>
          <a:solidFill>
            <a:srgbClr val="EEE8DD"/>
          </a:solidFill>
          <a:ln w="9525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4492265" y="1759037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74655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103614" y="1775668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W2</a:t>
            </a:r>
            <a:endParaRPr lang="en-US" sz="1000" dirty="0">
              <a:latin typeface="+mj-lt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103614" y="1989534"/>
            <a:ext cx="3544267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8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SearchPage 実装（http 連携・JSON パース）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147765" y="2374850"/>
            <a:ext cx="318939" cy="14288"/>
          </a:xfrm>
          <a:prstGeom prst="roundRect">
            <a:avLst>
              <a:gd name="adj" fmla="val 39999"/>
            </a:avLst>
          </a:prstGeom>
          <a:solidFill>
            <a:srgbClr val="D4CEC3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4452417" y="2262411"/>
            <a:ext cx="239167" cy="239167"/>
          </a:xfrm>
          <a:prstGeom prst="roundRect">
            <a:avLst>
              <a:gd name="adj" fmla="val 2390"/>
            </a:avLst>
          </a:prstGeom>
          <a:solidFill>
            <a:srgbClr val="EEE8DD"/>
          </a:solidFill>
          <a:ln w="9525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4492265" y="2282317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74655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711351" y="2298948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300"/>
              </a:lnSpc>
              <a:buNone/>
            </a:pPr>
            <a:r>
              <a:rPr lang="en-US" sz="10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W3</a:t>
            </a:r>
            <a:endParaRPr lang="en-US" sz="1000" dirty="0">
              <a:latin typeface="+mj-lt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96119" y="2512814"/>
            <a:ext cx="3544267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150"/>
              </a:lnSpc>
              <a:buNone/>
            </a:pPr>
            <a:r>
              <a:rPr lang="en-US" sz="8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BookshelfPage（GridView）+ 登録フロー完成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77296" y="2898130"/>
            <a:ext cx="318939" cy="14288"/>
          </a:xfrm>
          <a:prstGeom prst="roundRect">
            <a:avLst>
              <a:gd name="adj" fmla="val 39999"/>
            </a:avLst>
          </a:prstGeom>
          <a:solidFill>
            <a:srgbClr val="D4CEC3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452417" y="2785690"/>
            <a:ext cx="239167" cy="239167"/>
          </a:xfrm>
          <a:prstGeom prst="roundRect">
            <a:avLst>
              <a:gd name="adj" fmla="val 2390"/>
            </a:avLst>
          </a:prstGeom>
          <a:solidFill>
            <a:srgbClr val="EEE8DD"/>
          </a:solidFill>
          <a:ln w="9525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4492265" y="2805596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74655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103614" y="2822228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W4 </a:t>
            </a:r>
            <a:endParaRPr lang="en-US" sz="1000" dirty="0">
              <a:latin typeface="+mj-lt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103614" y="3036094"/>
            <a:ext cx="3544267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8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BookDetailPage + Hero 遷移 → </a:t>
            </a:r>
            <a:r>
              <a:rPr lang="en-US" sz="800" b="1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MVP 完成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47765" y="3421410"/>
            <a:ext cx="318939" cy="14288"/>
          </a:xfrm>
          <a:prstGeom prst="roundRect">
            <a:avLst>
              <a:gd name="adj" fmla="val 39999"/>
            </a:avLst>
          </a:prstGeom>
          <a:solidFill>
            <a:srgbClr val="D4CEC3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4452417" y="3308970"/>
            <a:ext cx="239167" cy="239167"/>
          </a:xfrm>
          <a:prstGeom prst="roundRect">
            <a:avLst>
              <a:gd name="adj" fmla="val 2390"/>
            </a:avLst>
          </a:prstGeom>
          <a:solidFill>
            <a:srgbClr val="EEE8DD"/>
          </a:solidFill>
          <a:ln w="9525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4492265" y="3328876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74655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5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711351" y="3345507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300"/>
              </a:lnSpc>
              <a:buNone/>
            </a:pPr>
            <a:r>
              <a:rPr lang="en-US" sz="10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W5–W6</a:t>
            </a:r>
            <a:endParaRPr lang="en-US" sz="1000" dirty="0">
              <a:latin typeface="+mj-lt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96119" y="3559373"/>
            <a:ext cx="3544267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150"/>
              </a:lnSpc>
              <a:buNone/>
            </a:pPr>
            <a:r>
              <a:rPr lang="en-US" sz="8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進捗・★評価・レビュー CRUD + フィルタ / ソート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77296" y="3944689"/>
            <a:ext cx="318939" cy="14288"/>
          </a:xfrm>
          <a:prstGeom prst="roundRect">
            <a:avLst>
              <a:gd name="adj" fmla="val 39999"/>
            </a:avLst>
          </a:prstGeom>
          <a:solidFill>
            <a:srgbClr val="D4CEC3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4452417" y="3832250"/>
            <a:ext cx="239167" cy="239167"/>
          </a:xfrm>
          <a:prstGeom prst="roundRect">
            <a:avLst>
              <a:gd name="adj" fmla="val 2390"/>
            </a:avLst>
          </a:prstGeom>
          <a:solidFill>
            <a:srgbClr val="EEE8DD"/>
          </a:solidFill>
          <a:ln w="9525">
            <a:solidFill>
              <a:srgbClr val="D4CEC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4492265" y="3852156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74655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6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103614" y="3868787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746558"/>
                </a:solidFill>
                <a:latin typeface="+mj-lt"/>
                <a:ea typeface="Lora" pitchFamily="34" charset="-122"/>
                <a:cs typeface="Lora" pitchFamily="34" charset="-120"/>
              </a:rPr>
              <a:t>W7–W8</a:t>
            </a:r>
            <a:endParaRPr lang="en-US" sz="1000" dirty="0">
              <a:latin typeface="+mj-lt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103614" y="4082653"/>
            <a:ext cx="3544267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800" dirty="0">
                <a:solidFill>
                  <a:srgbClr val="746558"/>
                </a:solidFill>
                <a:ea typeface="Source Sans 3" pitchFamily="34" charset="-122"/>
                <a:cs typeface="Source Sans 3" pitchFamily="34" charset="-120"/>
              </a:rPr>
              <a:t>StatsPage（fl_chart）+ バーコード読取 or 最終 polish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353</Words>
  <Application>Microsoft Office PowerPoint</Application>
  <PresentationFormat>画面に合わせる (16:9)</PresentationFormat>
  <Paragraphs>113</Paragraphs>
  <Slides>9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Source Sans 3</vt:lpstr>
      <vt:lpstr>Arial</vt:lpstr>
      <vt:lpstr>Lora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鈴木花織</dc:creator>
  <cp:lastModifiedBy>花織 鈴木</cp:lastModifiedBy>
  <cp:revision>3</cp:revision>
  <dcterms:created xsi:type="dcterms:W3CDTF">2026-05-13T05:56:29Z</dcterms:created>
  <dcterms:modified xsi:type="dcterms:W3CDTF">2026-05-13T06:37:32Z</dcterms:modified>
</cp:coreProperties>
</file>